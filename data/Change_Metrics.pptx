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81"/>
    <p:restoredTop sz="96949"/>
  </p:normalViewPr>
  <p:slideViewPr>
    <p:cSldViewPr snapToGrid="0">
      <p:cViewPr varScale="1">
        <p:scale>
          <a:sx n="156" d="100"/>
          <a:sy n="156" d="100"/>
        </p:scale>
        <p:origin x="10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D780D-3828-E48E-A819-DBAC23BCFC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BEADA3-85AD-F9E8-7044-56BFF106F7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3488E6-6F9D-4FF6-BFA8-CFF9F388C61C}"/>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5" name="Footer Placeholder 4">
            <a:extLst>
              <a:ext uri="{FF2B5EF4-FFF2-40B4-BE49-F238E27FC236}">
                <a16:creationId xmlns:a16="http://schemas.microsoft.com/office/drawing/2014/main" id="{9732E8A3-B103-7043-FDCE-8675E950A0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33FD9-5044-DCF7-0898-9C929809B8FB}"/>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2800829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FDA14-7848-FCDC-82D2-78C3C15BAB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E2FA7A-1C94-6AD4-EBD2-DA17BA904E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B3ABF1-3738-138B-B5F5-317861389919}"/>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5" name="Footer Placeholder 4">
            <a:extLst>
              <a:ext uri="{FF2B5EF4-FFF2-40B4-BE49-F238E27FC236}">
                <a16:creationId xmlns:a16="http://schemas.microsoft.com/office/drawing/2014/main" id="{52C4B671-EA71-9B16-85EB-953BDD83B9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20E5-89B5-2BDC-408E-6688FE03CB0B}"/>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3249566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02589-BF43-6351-F90A-41E5241712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88CF04-7437-BC8A-A022-73F108065C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7B9D9D-090B-AC3D-F93B-E10D8EDEF049}"/>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5" name="Footer Placeholder 4">
            <a:extLst>
              <a:ext uri="{FF2B5EF4-FFF2-40B4-BE49-F238E27FC236}">
                <a16:creationId xmlns:a16="http://schemas.microsoft.com/office/drawing/2014/main" id="{98619E5B-4F52-92B6-CAF9-F4F87851F0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D240DA-5829-62ED-6353-2793EBD1A44E}"/>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396767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B80C-FE13-6409-181C-AB7031F78F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AB9F32-93FF-1961-E1D9-012EA04C76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EC8FCB-2CC9-BDB2-6D77-59B5905E59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4F19F5-A05B-7B3B-F4A0-E67FC0848CF8}"/>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6" name="Footer Placeholder 5">
            <a:extLst>
              <a:ext uri="{FF2B5EF4-FFF2-40B4-BE49-F238E27FC236}">
                <a16:creationId xmlns:a16="http://schemas.microsoft.com/office/drawing/2014/main" id="{1ED40706-D69A-EE94-0CDA-0B14F2B763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133126-D409-EC9A-475C-4BDB171005F6}"/>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548800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EFFF5-C96F-CA1B-5DCB-B127D0A8B0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B70AA7-4E64-0C6A-D871-8B8F48DC39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60E82E-A6F0-84B4-3F4B-2154FD9983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372606-C9DB-3763-6F57-A089A22EF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224A78-672B-BC68-3652-EE6DE10539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FD8F9B-CC46-1514-380C-59793574B0AA}"/>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8" name="Footer Placeholder 7">
            <a:extLst>
              <a:ext uri="{FF2B5EF4-FFF2-40B4-BE49-F238E27FC236}">
                <a16:creationId xmlns:a16="http://schemas.microsoft.com/office/drawing/2014/main" id="{1DAFD6DE-852B-88B1-D5E1-DD694FF041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1AD6FE-AF9B-11CC-F235-7AAA8897E945}"/>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3830250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127C0-EF3D-AA7B-F2B3-4FC6703E75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8D0A08-69F8-2F57-54D8-CB458002903B}"/>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4" name="Footer Placeholder 3">
            <a:extLst>
              <a:ext uri="{FF2B5EF4-FFF2-40B4-BE49-F238E27FC236}">
                <a16:creationId xmlns:a16="http://schemas.microsoft.com/office/drawing/2014/main" id="{2C0FBA05-92B4-D7FE-A1D8-1DE79FE9E3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259C82-BCC3-761D-FB97-D771B447FC7C}"/>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69912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5A142D-7755-64F1-79CD-1650C7E26BDB}"/>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3" name="Footer Placeholder 2">
            <a:extLst>
              <a:ext uri="{FF2B5EF4-FFF2-40B4-BE49-F238E27FC236}">
                <a16:creationId xmlns:a16="http://schemas.microsoft.com/office/drawing/2014/main" id="{C6BED8AA-E029-5602-586A-284A599366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07AB4E-6BDA-0B03-249F-8581FD3978D6}"/>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1668962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42EE-EE57-6449-7A09-C7AD7FBE3A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9DD400-F4F9-B9C4-7278-D7522241E4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05141E-1FDB-659A-6224-E091C99E3E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088BA7-D74A-337A-7F7C-2A24FCC186DB}"/>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6" name="Footer Placeholder 5">
            <a:extLst>
              <a:ext uri="{FF2B5EF4-FFF2-40B4-BE49-F238E27FC236}">
                <a16:creationId xmlns:a16="http://schemas.microsoft.com/office/drawing/2014/main" id="{3EA4BD03-CF43-C49E-0A11-586209C99B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EAE6EE-7AEB-FC0E-8BCF-0C9C1DEE0926}"/>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312946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B774-ED68-F022-7B31-D6C9F628E0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D5F295-3877-4BF7-9927-845ABBC9D1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C6D067-2A2D-4212-D4F6-DE17D04E45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25B451-217A-2FB1-81FF-B2113023925F}"/>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6" name="Footer Placeholder 5">
            <a:extLst>
              <a:ext uri="{FF2B5EF4-FFF2-40B4-BE49-F238E27FC236}">
                <a16:creationId xmlns:a16="http://schemas.microsoft.com/office/drawing/2014/main" id="{D9F329A2-805A-7AC1-B194-6C0621AD99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744B8E-267E-5170-4214-5A3DDF0EAA05}"/>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2717999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BEFEB-5180-74C7-2DD4-2A244FFD21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FC6B6B-4021-37BC-B9B8-099DECF271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9B5D30-62B9-D7F1-48F5-2D288DED6776}"/>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5" name="Footer Placeholder 4">
            <a:extLst>
              <a:ext uri="{FF2B5EF4-FFF2-40B4-BE49-F238E27FC236}">
                <a16:creationId xmlns:a16="http://schemas.microsoft.com/office/drawing/2014/main" id="{8B717181-DE57-6331-916B-36F1BBBDA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7EB4D-CD74-07C0-0BEB-88096A15871C}"/>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289256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3E7920-0A66-E56C-F54E-D8A4FCA2FB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CD2228-FF65-0977-6452-11F1AF732A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484BE1-4ADF-21A8-E907-AD81C3031A6E}"/>
              </a:ext>
            </a:extLst>
          </p:cNvPr>
          <p:cNvSpPr>
            <a:spLocks noGrp="1"/>
          </p:cNvSpPr>
          <p:nvPr>
            <p:ph type="dt" sz="half" idx="10"/>
          </p:nvPr>
        </p:nvSpPr>
        <p:spPr/>
        <p:txBody>
          <a:bodyPr/>
          <a:lstStyle/>
          <a:p>
            <a:fld id="{249A1F3F-FD7F-984C-A362-79303941964D}" type="datetimeFigureOut">
              <a:rPr lang="en-US" smtClean="0"/>
              <a:t>8/28/25</a:t>
            </a:fld>
            <a:endParaRPr lang="en-US"/>
          </a:p>
        </p:txBody>
      </p:sp>
      <p:sp>
        <p:nvSpPr>
          <p:cNvPr id="5" name="Footer Placeholder 4">
            <a:extLst>
              <a:ext uri="{FF2B5EF4-FFF2-40B4-BE49-F238E27FC236}">
                <a16:creationId xmlns:a16="http://schemas.microsoft.com/office/drawing/2014/main" id="{688E4E53-9C84-A8F8-BA43-6A8AE5097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A80960-CD9C-913D-688A-B87885111DEF}"/>
              </a:ext>
            </a:extLst>
          </p:cNvPr>
          <p:cNvSpPr>
            <a:spLocks noGrp="1"/>
          </p:cNvSpPr>
          <p:nvPr>
            <p:ph type="sldNum" sz="quarter" idx="12"/>
          </p:nvPr>
        </p:nvSpPr>
        <p:spPr/>
        <p:txBody>
          <a:bodyPr/>
          <a:lstStyle/>
          <a:p>
            <a:fld id="{F96BB1C7-8794-9844-972F-76E006557B63}" type="slidenum">
              <a:rPr lang="en-US" smtClean="0"/>
              <a:t>‹#›</a:t>
            </a:fld>
            <a:endParaRPr lang="en-US"/>
          </a:p>
        </p:txBody>
      </p:sp>
    </p:spTree>
    <p:extLst>
      <p:ext uri="{BB962C8B-B14F-4D97-AF65-F5344CB8AC3E}">
        <p14:creationId xmlns:p14="http://schemas.microsoft.com/office/powerpoint/2010/main" val="3777286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A0AC77-89C1-BA60-5DF7-BD7B5A172E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154F03-E398-1B0B-1A79-42710A6C0C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346C2C-134E-B7C0-7C0F-C6C1BE06FE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9A1F3F-FD7F-984C-A362-79303941964D}" type="datetimeFigureOut">
              <a:rPr lang="en-US" smtClean="0"/>
              <a:t>8/28/25</a:t>
            </a:fld>
            <a:endParaRPr lang="en-US"/>
          </a:p>
        </p:txBody>
      </p:sp>
      <p:sp>
        <p:nvSpPr>
          <p:cNvPr id="5" name="Footer Placeholder 4">
            <a:extLst>
              <a:ext uri="{FF2B5EF4-FFF2-40B4-BE49-F238E27FC236}">
                <a16:creationId xmlns:a16="http://schemas.microsoft.com/office/drawing/2014/main" id="{A1E241CE-C3E9-0395-260F-0EBF0BCC8B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35794D-A931-7FD2-4C92-3667F54D57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6BB1C7-8794-9844-972F-76E006557B63}" type="slidenum">
              <a:rPr lang="en-US" smtClean="0"/>
              <a:t>‹#›</a:t>
            </a:fld>
            <a:endParaRPr lang="en-US"/>
          </a:p>
        </p:txBody>
      </p:sp>
    </p:spTree>
    <p:extLst>
      <p:ext uri="{BB962C8B-B14F-4D97-AF65-F5344CB8AC3E}">
        <p14:creationId xmlns:p14="http://schemas.microsoft.com/office/powerpoint/2010/main" val="2604606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B16C644-A424-2984-47F6-5408954D7DFD}"/>
              </a:ext>
            </a:extLst>
          </p:cNvPr>
          <p:cNvGraphicFramePr>
            <a:graphicFrameLocks noGrp="1"/>
          </p:cNvGraphicFramePr>
          <p:nvPr>
            <p:extLst>
              <p:ext uri="{D42A27DB-BD31-4B8C-83A1-F6EECF244321}">
                <p14:modId xmlns:p14="http://schemas.microsoft.com/office/powerpoint/2010/main" val="3951836694"/>
              </p:ext>
            </p:extLst>
          </p:nvPr>
        </p:nvGraphicFramePr>
        <p:xfrm>
          <a:off x="157925" y="81198"/>
          <a:ext cx="11639467" cy="6695604"/>
        </p:xfrm>
        <a:graphic>
          <a:graphicData uri="http://schemas.openxmlformats.org/drawingml/2006/table">
            <a:tbl>
              <a:tblPr firstRow="1" bandRow="1">
                <a:tableStyleId>{5C22544A-7EE6-4342-B048-85BDC9FD1C3A}</a:tableStyleId>
              </a:tblPr>
              <a:tblGrid>
                <a:gridCol w="1477901">
                  <a:extLst>
                    <a:ext uri="{9D8B030D-6E8A-4147-A177-3AD203B41FA5}">
                      <a16:colId xmlns:a16="http://schemas.microsoft.com/office/drawing/2014/main" val="2341270903"/>
                    </a:ext>
                  </a:extLst>
                </a:gridCol>
                <a:gridCol w="5504553">
                  <a:extLst>
                    <a:ext uri="{9D8B030D-6E8A-4147-A177-3AD203B41FA5}">
                      <a16:colId xmlns:a16="http://schemas.microsoft.com/office/drawing/2014/main" val="1124294021"/>
                    </a:ext>
                  </a:extLst>
                </a:gridCol>
                <a:gridCol w="4657013">
                  <a:extLst>
                    <a:ext uri="{9D8B030D-6E8A-4147-A177-3AD203B41FA5}">
                      <a16:colId xmlns:a16="http://schemas.microsoft.com/office/drawing/2014/main" val="678283469"/>
                    </a:ext>
                  </a:extLst>
                </a:gridCol>
              </a:tblGrid>
              <a:tr h="846756">
                <a:tc>
                  <a:txBody>
                    <a:bodyPr/>
                    <a:lstStyle/>
                    <a:p>
                      <a:pPr algn="ctr"/>
                      <a:r>
                        <a:rPr lang="en-US" sz="1400" dirty="0"/>
                        <a:t>Cause</a:t>
                      </a:r>
                    </a:p>
                  </a:txBody>
                  <a:tcPr anchor="ctr"/>
                </a:tc>
                <a:tc>
                  <a:txBody>
                    <a:bodyPr/>
                    <a:lstStyle/>
                    <a:p>
                      <a:pPr algn="ctr"/>
                      <a:r>
                        <a:rPr lang="en-US" sz="1400" dirty="0"/>
                        <a:t>Description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Metric(s)</a:t>
                      </a:r>
                    </a:p>
                  </a:txBody>
                  <a:tcPr anchor="ctr"/>
                </a:tc>
                <a:extLst>
                  <a:ext uri="{0D108BD9-81ED-4DB2-BD59-A6C34878D82A}">
                    <a16:rowId xmlns:a16="http://schemas.microsoft.com/office/drawing/2014/main" val="2052019893"/>
                  </a:ext>
                </a:extLst>
              </a:tr>
              <a:tr h="1650399">
                <a:tc>
                  <a:txBody>
                    <a:bodyPr/>
                    <a:lstStyle/>
                    <a:p>
                      <a:pPr algn="ctr"/>
                      <a:r>
                        <a:rPr lang="en-US" sz="1400" dirty="0"/>
                        <a:t>ML Model Drift</a:t>
                      </a:r>
                    </a:p>
                  </a:txBody>
                  <a:tcPr anchor="ctr">
                    <a:solidFill>
                      <a:schemeClr val="accent6">
                        <a:lumMod val="40000"/>
                        <a:lumOff val="60000"/>
                      </a:schemeClr>
                    </a:solidFill>
                  </a:tcPr>
                </a:tc>
                <a:tc>
                  <a:txBody>
                    <a:bodyPr/>
                    <a:lstStyle/>
                    <a:p>
                      <a:pPr algn="ctr"/>
                      <a:r>
                        <a:rPr lang="en-US" sz="1400" dirty="0"/>
                        <a:t>The performance of the models degrades over time. We need a concrete way to quantify this that is robust to interannual variability.</a:t>
                      </a:r>
                    </a:p>
                  </a:txBody>
                  <a:tcPr anchor="ctr">
                    <a:solidFill>
                      <a:schemeClr val="accent6">
                        <a:lumMod val="40000"/>
                        <a:lumOff val="60000"/>
                      </a:schemeClr>
                    </a:solidFill>
                  </a:tcPr>
                </a:tc>
                <a:tc>
                  <a:txBody>
                    <a:bodyPr/>
                    <a:lstStyle/>
                    <a:p>
                      <a:pPr marL="342900" indent="-342900" algn="l">
                        <a:buFont typeface="+mj-lt"/>
                        <a:buAutoNum type="arabicPeriod"/>
                      </a:pPr>
                      <a:r>
                        <a:rPr lang="en-US" sz="1400" dirty="0"/>
                        <a:t>Mean delta RMSE per year (Casey will take a stab at this)</a:t>
                      </a:r>
                    </a:p>
                  </a:txBody>
                  <a:tcPr anchor="ctr">
                    <a:solidFill>
                      <a:schemeClr val="accent6">
                        <a:lumMod val="40000"/>
                        <a:lumOff val="60000"/>
                      </a:schemeClr>
                    </a:solidFill>
                  </a:tcPr>
                </a:tc>
                <a:extLst>
                  <a:ext uri="{0D108BD9-81ED-4DB2-BD59-A6C34878D82A}">
                    <a16:rowId xmlns:a16="http://schemas.microsoft.com/office/drawing/2014/main" val="1769487714"/>
                  </a:ext>
                </a:extLst>
              </a:tr>
              <a:tr h="1650399">
                <a:tc>
                  <a:txBody>
                    <a:bodyPr/>
                    <a:lstStyle/>
                    <a:p>
                      <a:pPr algn="ctr"/>
                      <a:r>
                        <a:rPr lang="en-US" sz="1400" dirty="0"/>
                        <a:t>Population Change</a:t>
                      </a:r>
                    </a:p>
                  </a:txBody>
                  <a:tcPr anchor="ctr"/>
                </a:tc>
                <a:tc>
                  <a:txBody>
                    <a:bodyPr/>
                    <a:lstStyle/>
                    <a:p>
                      <a:pPr algn="ctr"/>
                      <a:r>
                        <a:rPr lang="en-US" sz="1400" dirty="0"/>
                        <a:t>Population change (growth or decay) will cause electricity demands to change roughly proportionally. If population in a forward year is significantly different than when the ML model was trained that can cause an over- or under-estimation of demand.</a:t>
                      </a:r>
                    </a:p>
                  </a:txBody>
                  <a:tcPr anchor="ctr"/>
                </a:tc>
                <a:tc>
                  <a:txBody>
                    <a:bodyPr/>
                    <a:lstStyle/>
                    <a:p>
                      <a:pPr marL="342900" indent="-342900" algn="l">
                        <a:buFont typeface="+mj-lt"/>
                        <a:buAutoNum type="arabicPeriod"/>
                      </a:pPr>
                      <a:r>
                        <a:rPr lang="en-US" sz="1400" dirty="0"/>
                        <a:t>Linear trends in over- or under-estimation of annual electricity demand.</a:t>
                      </a:r>
                    </a:p>
                    <a:p>
                      <a:pPr marL="342900" indent="-342900" algn="l">
                        <a:buFont typeface="+mj-lt"/>
                        <a:buAutoNum type="arabicPeriod"/>
                      </a:pPr>
                      <a:r>
                        <a:rPr lang="en-US" sz="1400" dirty="0">
                          <a:solidFill>
                            <a:schemeClr val="accent3"/>
                          </a:solidFill>
                        </a:rPr>
                        <a:t>High correlation between annual errors and population change between the forward year and the training period. (Kyung-bin will attempt)</a:t>
                      </a:r>
                    </a:p>
                  </a:txBody>
                  <a:tcPr anchor="ctr"/>
                </a:tc>
                <a:extLst>
                  <a:ext uri="{0D108BD9-81ED-4DB2-BD59-A6C34878D82A}">
                    <a16:rowId xmlns:a16="http://schemas.microsoft.com/office/drawing/2014/main" val="1484310677"/>
                  </a:ext>
                </a:extLst>
              </a:tr>
              <a:tr h="925964">
                <a:tc>
                  <a:txBody>
                    <a:bodyPr/>
                    <a:lstStyle/>
                    <a:p>
                      <a:pPr algn="ctr"/>
                      <a:r>
                        <a:rPr lang="en-US" sz="1400" dirty="0"/>
                        <a:t>Technology Change</a:t>
                      </a:r>
                    </a:p>
                  </a:txBody>
                  <a:tcPr anchor="ctr"/>
                </a:tc>
                <a:tc>
                  <a:txBody>
                    <a:bodyPr/>
                    <a:lstStyle/>
                    <a:p>
                      <a:pPr algn="ctr"/>
                      <a:r>
                        <a:rPr lang="en-US" sz="1400" dirty="0"/>
                        <a:t>Accelerated adoption of certain technologies (e.g., rooftop solar, EVs, or battery storage) can cause shifts in the diurnal load profile leading to errors in the ML models which were trained to capture different patterns.</a:t>
                      </a:r>
                    </a:p>
                  </a:txBody>
                  <a:tcPr anchor="ctr"/>
                </a:tc>
                <a:tc>
                  <a:txBody>
                    <a:bodyPr/>
                    <a:lstStyle/>
                    <a:p>
                      <a:pPr marL="342900" indent="-342900" algn="l">
                        <a:buFont typeface="+mj-lt"/>
                        <a:buAutoNum type="arabicPeriod"/>
                      </a:pPr>
                      <a:r>
                        <a:rPr lang="en-US" sz="1400" dirty="0"/>
                        <a:t>Obvious shifts in the diurnal load profile between the forward year and the training period.</a:t>
                      </a:r>
                    </a:p>
                    <a:p>
                      <a:pPr marL="342900" indent="-342900" algn="l">
                        <a:buFont typeface="+mj-lt"/>
                        <a:buAutoNum type="arabicPeriod"/>
                      </a:pPr>
                      <a:r>
                        <a:rPr lang="en-US" sz="1400" dirty="0">
                          <a:solidFill>
                            <a:schemeClr val="accent3"/>
                          </a:solidFill>
                        </a:rPr>
                        <a:t>A trend of decreasing correlation of the mean diurnal cycle across subsequent iterations of ML models. (Casey will take a stab at this)</a:t>
                      </a:r>
                    </a:p>
                  </a:txBody>
                  <a:tcPr anchor="ctr"/>
                </a:tc>
                <a:extLst>
                  <a:ext uri="{0D108BD9-81ED-4DB2-BD59-A6C34878D82A}">
                    <a16:rowId xmlns:a16="http://schemas.microsoft.com/office/drawing/2014/main" val="1673206315"/>
                  </a:ext>
                </a:extLst>
              </a:tr>
              <a:tr h="1389810">
                <a:tc>
                  <a:txBody>
                    <a:bodyPr/>
                    <a:lstStyle/>
                    <a:p>
                      <a:pPr algn="ctr"/>
                      <a:r>
                        <a:rPr lang="en-US" sz="1400" dirty="0"/>
                        <a:t>Out of Sample Weather Events</a:t>
                      </a:r>
                    </a:p>
                  </a:txBody>
                  <a:tcPr anchor="ctr"/>
                </a:tc>
                <a:tc>
                  <a:txBody>
                    <a:bodyPr/>
                    <a:lstStyle/>
                    <a:p>
                      <a:pPr algn="ctr"/>
                      <a:r>
                        <a:rPr lang="en-US" sz="1400" dirty="0"/>
                        <a:t>We are using a relatively short window (2 years) for training the models which limits the extreme values of temperature captured in the training set. Having temperatures occur in the forward year that were not in the training period can lead to model biases during extreme events.</a:t>
                      </a:r>
                    </a:p>
                  </a:txBody>
                  <a:tcPr anchor="ctr"/>
                </a:tc>
                <a:tc>
                  <a:txBody>
                    <a:bodyPr/>
                    <a:lstStyle/>
                    <a:p>
                      <a:pPr marL="342900" indent="-342900" algn="l">
                        <a:buFont typeface="+mj-lt"/>
                        <a:buAutoNum type="arabicPeriod"/>
                      </a:pPr>
                      <a:r>
                        <a:rPr lang="en-US" sz="1400" dirty="0"/>
                        <a:t>Increased frequency of very high or very low temperatures in the forward year compared to the training period. (Aowabin will attempt)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400" dirty="0"/>
                        <a:t>High errors in the ML models during periods of extreme heat or cold. (Aowabin will attempt)</a:t>
                      </a:r>
                    </a:p>
                  </a:txBody>
                  <a:tcPr anchor="ctr"/>
                </a:tc>
                <a:extLst>
                  <a:ext uri="{0D108BD9-81ED-4DB2-BD59-A6C34878D82A}">
                    <a16:rowId xmlns:a16="http://schemas.microsoft.com/office/drawing/2014/main" val="3363954408"/>
                  </a:ext>
                </a:extLst>
              </a:tr>
            </a:tbl>
          </a:graphicData>
        </a:graphic>
      </p:graphicFrame>
    </p:spTree>
    <p:extLst>
      <p:ext uri="{BB962C8B-B14F-4D97-AF65-F5344CB8AC3E}">
        <p14:creationId xmlns:p14="http://schemas.microsoft.com/office/powerpoint/2010/main" val="1893673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0E796-0BAF-6F5A-A805-46AE70F8246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9D36AC2-43C7-DA55-C96B-FF51D3881CBF}"/>
              </a:ext>
            </a:extLst>
          </p:cNvPr>
          <p:cNvGraphicFramePr>
            <a:graphicFrameLocks noGrp="1"/>
          </p:cNvGraphicFramePr>
          <p:nvPr>
            <p:extLst>
              <p:ext uri="{D42A27DB-BD31-4B8C-83A1-F6EECF244321}">
                <p14:modId xmlns:p14="http://schemas.microsoft.com/office/powerpoint/2010/main" val="1811558763"/>
              </p:ext>
            </p:extLst>
          </p:nvPr>
        </p:nvGraphicFramePr>
        <p:xfrm>
          <a:off x="2007072" y="1398830"/>
          <a:ext cx="8177855" cy="4060339"/>
        </p:xfrm>
        <a:graphic>
          <a:graphicData uri="http://schemas.openxmlformats.org/drawingml/2006/table">
            <a:tbl>
              <a:tblPr firstRow="1" bandRow="1">
                <a:tableStyleId>{5C22544A-7EE6-4342-B048-85BDC9FD1C3A}</a:tableStyleId>
              </a:tblPr>
              <a:tblGrid>
                <a:gridCol w="1635571">
                  <a:extLst>
                    <a:ext uri="{9D8B030D-6E8A-4147-A177-3AD203B41FA5}">
                      <a16:colId xmlns:a16="http://schemas.microsoft.com/office/drawing/2014/main" val="2341270903"/>
                    </a:ext>
                  </a:extLst>
                </a:gridCol>
                <a:gridCol w="1635571">
                  <a:extLst>
                    <a:ext uri="{9D8B030D-6E8A-4147-A177-3AD203B41FA5}">
                      <a16:colId xmlns:a16="http://schemas.microsoft.com/office/drawing/2014/main" val="2905377542"/>
                    </a:ext>
                  </a:extLst>
                </a:gridCol>
                <a:gridCol w="1635571">
                  <a:extLst>
                    <a:ext uri="{9D8B030D-6E8A-4147-A177-3AD203B41FA5}">
                      <a16:colId xmlns:a16="http://schemas.microsoft.com/office/drawing/2014/main" val="1124294021"/>
                    </a:ext>
                  </a:extLst>
                </a:gridCol>
                <a:gridCol w="1635571">
                  <a:extLst>
                    <a:ext uri="{9D8B030D-6E8A-4147-A177-3AD203B41FA5}">
                      <a16:colId xmlns:a16="http://schemas.microsoft.com/office/drawing/2014/main" val="678283469"/>
                    </a:ext>
                  </a:extLst>
                </a:gridCol>
                <a:gridCol w="1635571">
                  <a:extLst>
                    <a:ext uri="{9D8B030D-6E8A-4147-A177-3AD203B41FA5}">
                      <a16:colId xmlns:a16="http://schemas.microsoft.com/office/drawing/2014/main" val="3400344600"/>
                    </a:ext>
                  </a:extLst>
                </a:gridCol>
              </a:tblGrid>
              <a:tr h="1211212">
                <a:tc>
                  <a:txBody>
                    <a:bodyPr/>
                    <a:lstStyle/>
                    <a:p>
                      <a:pPr algn="ctr"/>
                      <a:r>
                        <a:rPr lang="en-US" dirty="0"/>
                        <a:t>BA</a:t>
                      </a:r>
                    </a:p>
                  </a:txBody>
                  <a:tcPr anchor="ctr"/>
                </a:tc>
                <a:tc>
                  <a:txBody>
                    <a:bodyPr/>
                    <a:lstStyle/>
                    <a:p>
                      <a:pPr algn="ctr"/>
                      <a:r>
                        <a:rPr lang="en-US" dirty="0"/>
                        <a:t>Model Drift Rate</a:t>
                      </a:r>
                    </a:p>
                  </a:txBody>
                  <a:tcPr anchor="ctr"/>
                </a:tc>
                <a:tc>
                  <a:txBody>
                    <a:bodyPr/>
                    <a:lstStyle/>
                    <a:p>
                      <a:pPr algn="ctr"/>
                      <a:r>
                        <a:rPr lang="en-US" dirty="0"/>
                        <a:t>Population Change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Technology Change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Out of Sample Weather Events</a:t>
                      </a:r>
                    </a:p>
                  </a:txBody>
                  <a:tcPr anchor="ctr"/>
                </a:tc>
                <a:extLst>
                  <a:ext uri="{0D108BD9-81ED-4DB2-BD59-A6C34878D82A}">
                    <a16:rowId xmlns:a16="http://schemas.microsoft.com/office/drawing/2014/main" val="2052019893"/>
                  </a:ext>
                </a:extLst>
              </a:tr>
              <a:tr h="949709">
                <a:tc>
                  <a:txBody>
                    <a:bodyPr/>
                    <a:lstStyle/>
                    <a:p>
                      <a:pPr algn="ctr"/>
                      <a:r>
                        <a:rPr lang="en-US" dirty="0"/>
                        <a:t>PJM</a:t>
                      </a:r>
                    </a:p>
                  </a:txBody>
                  <a:tcPr anchor="ctr"/>
                </a:tc>
                <a:tc>
                  <a:txBody>
                    <a:bodyPr/>
                    <a:lstStyle/>
                    <a:p>
                      <a:pPr marL="0" indent="0" algn="ctr">
                        <a:buFont typeface="Arial" panose="020B0604020202020204" pitchFamily="34" charset="0"/>
                        <a:buNone/>
                      </a:pPr>
                      <a:r>
                        <a:rPr lang="en-US" dirty="0"/>
                        <a:t>3 years</a:t>
                      </a:r>
                    </a:p>
                  </a:txBody>
                  <a:tcPr anchor="ctr"/>
                </a:tc>
                <a:tc>
                  <a:txBody>
                    <a:bodyPr/>
                    <a:lstStyle/>
                    <a:p>
                      <a:pPr marL="0" indent="0" algn="ctr">
                        <a:buFont typeface="Arial" panose="020B0604020202020204" pitchFamily="34" charset="0"/>
                        <a:buNone/>
                      </a:pPr>
                      <a:r>
                        <a:rPr lang="en-US" dirty="0"/>
                        <a:t>Likely a Factor</a:t>
                      </a:r>
                    </a:p>
                  </a:txBody>
                  <a:tcPr anchor="ctr"/>
                </a:tc>
                <a:tc>
                  <a:txBody>
                    <a:bodyPr/>
                    <a:lstStyle/>
                    <a:p>
                      <a:pPr marL="0" indent="0" algn="ctr">
                        <a:buFont typeface="Arial" panose="020B0604020202020204" pitchFamily="34" charset="0"/>
                        <a:buNone/>
                      </a:pPr>
                      <a:r>
                        <a:rPr lang="en-US" dirty="0"/>
                        <a:t>Not Likely a Factor</a:t>
                      </a:r>
                    </a:p>
                  </a:txBody>
                  <a:tcPr anchor="ctr"/>
                </a:tc>
                <a:tc>
                  <a:txBody>
                    <a:bodyPr/>
                    <a:lstStyle/>
                    <a:p>
                      <a:pPr marL="0" indent="0" algn="ctr">
                        <a:buFont typeface="Arial" panose="020B0604020202020204" pitchFamily="34" charset="0"/>
                        <a:buNone/>
                      </a:pPr>
                      <a:r>
                        <a:rPr lang="en-US" dirty="0"/>
                        <a:t>Inconclusive</a:t>
                      </a:r>
                    </a:p>
                  </a:txBody>
                  <a:tcPr anchor="ctr"/>
                </a:tc>
                <a:extLst>
                  <a:ext uri="{0D108BD9-81ED-4DB2-BD59-A6C34878D82A}">
                    <a16:rowId xmlns:a16="http://schemas.microsoft.com/office/drawing/2014/main" val="1484310677"/>
                  </a:ext>
                </a:extLst>
              </a:tr>
              <a:tr h="949709">
                <a:tc>
                  <a:txBody>
                    <a:bodyPr/>
                    <a:lstStyle/>
                    <a:p>
                      <a:pPr algn="ctr"/>
                      <a:r>
                        <a:rPr lang="en-US" dirty="0"/>
                        <a:t>BPAT</a:t>
                      </a:r>
                    </a:p>
                  </a:txBody>
                  <a:tcPr anchor="ctr"/>
                </a:tc>
                <a:tc>
                  <a:txBody>
                    <a:bodyPr/>
                    <a:lstStyle/>
                    <a:p>
                      <a:pPr marL="0" indent="0" algn="ctr">
                        <a:buFont typeface="Arial" panose="020B0604020202020204" pitchFamily="34" charset="0"/>
                        <a:buNone/>
                      </a:pPr>
                      <a:endParaRPr lang="en-US" dirty="0"/>
                    </a:p>
                  </a:txBody>
                  <a:tcPr anchor="ctr"/>
                </a:tc>
                <a:tc>
                  <a:txBody>
                    <a:bodyPr/>
                    <a:lstStyle/>
                    <a:p>
                      <a:pPr marL="0" indent="0" algn="ctr">
                        <a:buFont typeface="Arial" panose="020B0604020202020204" pitchFamily="34" charset="0"/>
                        <a:buNone/>
                      </a:pPr>
                      <a:endParaRPr lang="en-US" dirty="0"/>
                    </a:p>
                  </a:txBody>
                  <a:tcPr anchor="ctr"/>
                </a:tc>
                <a:tc>
                  <a:txBody>
                    <a:bodyPr/>
                    <a:lstStyle/>
                    <a:p>
                      <a:pPr marL="0" indent="0" algn="ctr">
                        <a:buFont typeface="Arial" panose="020B0604020202020204" pitchFamily="34" charset="0"/>
                        <a:buNone/>
                      </a:pPr>
                      <a:endParaRPr lang="en-US" dirty="0"/>
                    </a:p>
                  </a:txBody>
                  <a:tcPr anchor="ctr"/>
                </a:tc>
                <a:tc>
                  <a:txBody>
                    <a:bodyPr/>
                    <a:lstStyle/>
                    <a:p>
                      <a:pPr marL="0" indent="0" algn="ctr">
                        <a:buFont typeface="Arial" panose="020B0604020202020204" pitchFamily="34" charset="0"/>
                        <a:buNone/>
                      </a:pPr>
                      <a:endParaRPr lang="en-US" dirty="0"/>
                    </a:p>
                  </a:txBody>
                  <a:tcPr anchor="ctr"/>
                </a:tc>
                <a:extLst>
                  <a:ext uri="{0D108BD9-81ED-4DB2-BD59-A6C34878D82A}">
                    <a16:rowId xmlns:a16="http://schemas.microsoft.com/office/drawing/2014/main" val="1673206315"/>
                  </a:ext>
                </a:extLst>
              </a:tr>
              <a:tr h="949709">
                <a:tc>
                  <a:txBody>
                    <a:bodyPr/>
                    <a:lstStyle/>
                    <a:p>
                      <a:pPr algn="ctr"/>
                      <a:r>
                        <a:rPr lang="en-US" dirty="0"/>
                        <a:t>…</a:t>
                      </a:r>
                    </a:p>
                  </a:txBody>
                  <a:tcPr anchor="ctr"/>
                </a:tc>
                <a:tc>
                  <a:txBody>
                    <a:bodyPr/>
                    <a:lstStyle/>
                    <a:p>
                      <a:pPr marL="0" indent="0" algn="ctr">
                        <a:buFont typeface="Arial" panose="020B0604020202020204" pitchFamily="34" charset="0"/>
                        <a:buNone/>
                      </a:pPr>
                      <a:endParaRPr lang="en-US" dirty="0"/>
                    </a:p>
                  </a:txBody>
                  <a:tcPr anchor="ctr"/>
                </a:tc>
                <a:tc>
                  <a:txBody>
                    <a:bodyPr/>
                    <a:lstStyle/>
                    <a:p>
                      <a:pPr marL="0" indent="0" algn="ctr">
                        <a:buFont typeface="Arial" panose="020B0604020202020204" pitchFamily="34" charset="0"/>
                        <a:buNone/>
                      </a:pPr>
                      <a:endParaRPr lang="en-US" dirty="0"/>
                    </a:p>
                  </a:txBody>
                  <a:tcPr anchor="ctr"/>
                </a:tc>
                <a:tc>
                  <a:txBody>
                    <a:bodyPr/>
                    <a:lstStyle/>
                    <a:p>
                      <a:pPr marL="0" indent="0" algn="ctr">
                        <a:buFont typeface="Arial" panose="020B0604020202020204" pitchFamily="34" charset="0"/>
                        <a:buNone/>
                      </a:pPr>
                      <a:endParaRPr lang="en-US" dirty="0"/>
                    </a:p>
                  </a:txBody>
                  <a:tcPr anchor="ctr"/>
                </a:tc>
                <a:tc>
                  <a:txBody>
                    <a:bodyPr/>
                    <a:lstStyle/>
                    <a:p>
                      <a:pPr marL="0" indent="0" algn="ctr">
                        <a:buFont typeface="Arial" panose="020B0604020202020204" pitchFamily="34" charset="0"/>
                        <a:buNone/>
                      </a:pPr>
                      <a:endParaRPr lang="en-US" dirty="0"/>
                    </a:p>
                  </a:txBody>
                  <a:tcPr anchor="ctr"/>
                </a:tc>
                <a:extLst>
                  <a:ext uri="{0D108BD9-81ED-4DB2-BD59-A6C34878D82A}">
                    <a16:rowId xmlns:a16="http://schemas.microsoft.com/office/drawing/2014/main" val="3363954408"/>
                  </a:ext>
                </a:extLst>
              </a:tr>
            </a:tbl>
          </a:graphicData>
        </a:graphic>
      </p:graphicFrame>
    </p:spTree>
    <p:extLst>
      <p:ext uri="{BB962C8B-B14F-4D97-AF65-F5344CB8AC3E}">
        <p14:creationId xmlns:p14="http://schemas.microsoft.com/office/powerpoint/2010/main" val="1516922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TotalTime>
  <Words>335</Words>
  <Application>Microsoft Macintosh PowerPoint</Application>
  <PresentationFormat>Widescreen</PresentationFormat>
  <Paragraphs>30</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Burleyson, Casey D</dc:creator>
  <cp:lastModifiedBy>Burleyson, Casey D</cp:lastModifiedBy>
  <cp:revision>17</cp:revision>
  <dcterms:created xsi:type="dcterms:W3CDTF">2025-08-21T16:54:55Z</dcterms:created>
  <dcterms:modified xsi:type="dcterms:W3CDTF">2025-08-28T21:49:50Z</dcterms:modified>
</cp:coreProperties>
</file>